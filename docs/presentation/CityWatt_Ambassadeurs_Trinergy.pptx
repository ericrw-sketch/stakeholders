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4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4764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l’outil : une carte des bâtiments que RaYSun cherche à faire entrer dans la communauté d’énergie CityWatt, et un moyen simple pour Trinergy d’ouvrir les portes.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Producteur : 60 à 70 €/MWh au lieu de 20 à 45 €/MWh chez un fournisseur. Consommateur : jusqu’à 50 % de réduction par rapport aux 100 à 150 €/MWh du fournisseur.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Chiffres RaYSun : fiche « Producer pricing ». Le message clé : Trinergy apporte la porte d’entrée, RaYSun fait le reste.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accès des commerciaux Trinergy sont créés par RaYSun et envoyés par email (expéditeur eric.rw@raysun.solar).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Cocher / décocher les vagues et les priorités dans la colonne de gauche. Le bouton Plan / Satellite (Google Maps) aide à repérer les toitures.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une fiche : propriétaire / gestionnaire, solaire, consommation estimée, puis les trois chemins en bas de la fiche.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Utile pour les vagues 1 et 2 : Trinergy peut compléter les données manquantes sans forcément donner de contact.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Seuls le nom et l’emplacement sont obligatoires. RaYSun donne ensuite une priorité A/B/C au lieu proposé.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Transparence : Trinergy est cité et mis en copie à chaque approche d’un gestionnaire.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"/>
            <a:ext cx="1188720" cy="45284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985760" y="530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959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TRINERGY × RAYSUN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59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RaYSun — Bd Saint-Lazare 4/10, 1210 Bruxelles — hi@raysun.solar — www.raysun.solar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59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9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59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ESPACE PARTENAIRES ·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92024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CityWatt</a:t>
            </a:r>
            <a:endParaRPr lang="en-US" sz="48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Ambassadeurs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6118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3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carte des bâtiments bruxellois à faire entrer dans la communauté d’énergie CityWatt.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4800600"/>
            <a:ext cx="4937760" cy="566928"/>
          </a:xfrm>
          <a:prstGeom prst="roundRect">
            <a:avLst>
              <a:gd name="adj" fmla="val 12903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 txBox="1"/>
          <p:nvPr/>
        </p:nvSpPr>
        <p:spPr>
          <a:xfrm>
            <a:off x="868680" y="480060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citywatt-ambassadeurs.netlify.app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989320" y="1234440"/>
            <a:ext cx="5650992" cy="4846320"/>
          </a:xfrm>
          <a:prstGeom prst="roundRect">
            <a:avLst>
              <a:gd name="adj" fmla="val 2264"/>
            </a:avLst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2" name="Image 1" descr="Carte CityWatt Ambassadeur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12" y="1994535"/>
            <a:ext cx="5321808" cy="3326130"/>
          </a:xfrm>
          <a:prstGeom prst="rect">
            <a:avLst/>
          </a:prstGeom>
        </p:spPr>
      </p:pic>
      <p:pic>
        <p:nvPicPr>
          <p:cNvPr id="1026" name="Picture 2" descr="Système de Gestion de l'Energie | Trinergy SGE">
            <a:extLst>
              <a:ext uri="{FF2B5EF4-FFF2-40B4-BE49-F238E27FC236}">
                <a16:creationId xmlns:a16="http://schemas.microsoft.com/office/drawing/2014/main" id="{10671BC8-D3F6-2772-1AD7-9A85BFA870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071" y="290147"/>
            <a:ext cx="2444898" cy="764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"/>
            <a:ext cx="1188720" cy="45284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57532" y="530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959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TRINERGY × RAYSUN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59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RaYSun — Bd Saint-Lazare 4/10, 1210 Bruxelles — hi@raysun.solar — www.raysun.solar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59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9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1430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fonctionne une communauté d’énergie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8745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3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producteur vend son injection à la communauté ; les consommateurs y achètent de l’énergie locale moins cher que chez leur fournisseur.</a:t>
            </a:r>
            <a:endParaRPr lang="en-US" sz="1500" dirty="0"/>
          </a:p>
        </p:txBody>
      </p:sp>
      <p:pic>
        <p:nvPicPr>
          <p:cNvPr id="8" name="Image 1" descr="Producteurs, communauté d’énergie et consommateurs : 60 à 70 €/MWh pour le producteur, jusqu’à 50 % de réduction pour le consommateu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1817" y="2514600"/>
            <a:ext cx="6828062" cy="3840480"/>
          </a:xfrm>
          <a:prstGeom prst="rect">
            <a:avLst/>
          </a:prstGeom>
        </p:spPr>
      </p:pic>
      <p:pic>
        <p:nvPicPr>
          <p:cNvPr id="9" name="Logo Trinergy" descr="Logo Trinerg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5172" y="411480"/>
            <a:ext cx="150818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"/>
            <a:ext cx="1188720" cy="45284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57532" y="530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959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TRINERGY × RAYSUN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59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RaYSun — Bd Saint-Lazare 4/10, 1210 Bruxelles — hi@raysun.solar — www.raysun.solar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59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9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14300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?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87452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3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communauté CityWatt consomme plus qu’elle ne produit : nous cherchons des bâtiments qui produisent ET consomment.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3515258" cy="1463040"/>
          </a:xfrm>
          <a:prstGeom prst="roundRect">
            <a:avLst>
              <a:gd name="adj" fmla="val 6250"/>
            </a:avLst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 txBox="1"/>
          <p:nvPr/>
        </p:nvSpPr>
        <p:spPr>
          <a:xfrm>
            <a:off x="822960" y="278892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Surplus de consommation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20040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3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membres consomment davantage que ce que les toitures du réseau produisent.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38218" y="2606040"/>
            <a:ext cx="3515258" cy="1463040"/>
          </a:xfrm>
          <a:prstGeom prst="roundRect">
            <a:avLst>
              <a:gd name="adj" fmla="val 6250"/>
            </a:avLst>
          </a:prstGeom>
          <a:solidFill>
            <a:srgbClr val="FFD633"/>
          </a:solidFill>
          <a:ln w="12700">
            <a:solidFill>
              <a:srgbClr val="FFD6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 txBox="1"/>
          <p:nvPr/>
        </p:nvSpPr>
        <p:spPr>
          <a:xfrm>
            <a:off x="4612538" y="278892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Priorité : Bruxelles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612538" y="320040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Bâtiments avec panneaux solaires et consommation sur place (prosumers).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127797" y="2606040"/>
            <a:ext cx="3515258" cy="1463040"/>
          </a:xfrm>
          <a:prstGeom prst="roundRect">
            <a:avLst>
              <a:gd name="adj" fmla="val 6250"/>
            </a:avLst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 txBox="1"/>
          <p:nvPr/>
        </p:nvSpPr>
        <p:spPr>
          <a:xfrm>
            <a:off x="8402117" y="278892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L’atout Trinergy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8402117" y="320040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3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connaissez les bâtiments, leurs gestionnaires et leurs contrats.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4343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59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RAYSUN AUJOURD’HUI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4617720"/>
            <a:ext cx="35152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 GWh</a:t>
            </a:r>
            <a:endParaRPr lang="en-US" sz="36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212080"/>
            <a:ext cx="3515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3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échangés par an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338218" y="4617720"/>
            <a:ext cx="35152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334</a:t>
            </a:r>
            <a:endParaRPr lang="en-US" sz="3600" dirty="0"/>
          </a:p>
        </p:txBody>
      </p:sp>
      <p:sp>
        <p:nvSpPr>
          <p:cNvPr id="21" name="Text 18"/>
          <p:cNvSpPr txBox="1"/>
          <p:nvPr/>
        </p:nvSpPr>
        <p:spPr>
          <a:xfrm>
            <a:off x="4338218" y="5212080"/>
            <a:ext cx="3515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3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compteurs connectés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127797" y="4617720"/>
            <a:ext cx="35152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3600" dirty="0"/>
          </a:p>
        </p:txBody>
      </p:sp>
      <p:sp>
        <p:nvSpPr>
          <p:cNvPr id="23" name="Text 20"/>
          <p:cNvSpPr txBox="1"/>
          <p:nvPr/>
        </p:nvSpPr>
        <p:spPr>
          <a:xfrm>
            <a:off x="8127797" y="5212080"/>
            <a:ext cx="3515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3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communes couvertes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48640" y="566928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2"/>
          <p:cNvSpPr txBox="1"/>
          <p:nvPr/>
        </p:nvSpPr>
        <p:spPr>
          <a:xfrm>
            <a:off x="868680" y="566928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introduction ou quelques données suffisent : </a:t>
            </a:r>
            <a:r>
              <a:rPr lang="en-US" sz="1600" b="1" dirty="0">
                <a:solidFill>
                  <a:srgbClr val="FFD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RaYSun prend le relais.</a:t>
            </a:r>
            <a:endParaRPr lang="en-US" sz="1600" dirty="0"/>
          </a:p>
        </p:txBody>
      </p:sp>
      <p:pic>
        <p:nvPicPr>
          <p:cNvPr id="26" name="Logo Trinergy" descr="Logo Trinerg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5172" y="411480"/>
            <a:ext cx="150818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"/>
            <a:ext cx="1188720" cy="45284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57532" y="530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959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TRINERGY × RAYSUN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59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RaYSun — Bd Saint-Lazare 4/10, 1210 Bruxelles — hi@raysun.solar — www.raysun.solar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59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9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14300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connecter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87452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3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personne reçoit par email son identifiant et un mot de passe créés par RaYSun.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457200" cy="457200"/>
          </a:xfrm>
          <a:prstGeom prst="ellipse">
            <a:avLst/>
          </a:prstGeom>
          <a:solidFill>
            <a:srgbClr val="FFD633"/>
          </a:solidFill>
          <a:ln w="12700">
            <a:solidFill>
              <a:srgbClr val="FFD6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 txBox="1"/>
          <p:nvPr/>
        </p:nvSpPr>
        <p:spPr>
          <a:xfrm>
            <a:off x="5486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2679192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Ouvrir la carte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rgbClr val="63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citywatt-ambassadeurs.netlify.app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rgbClr val="FFD633"/>
          </a:solidFill>
          <a:ln w="12700">
            <a:solidFill>
              <a:srgbClr val="FFD6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 txBox="1"/>
          <p:nvPr/>
        </p:nvSpPr>
        <p:spPr>
          <a:xfrm>
            <a:off x="54864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234440" y="3730752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connecter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rgbClr val="63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Avec son email et son mot de passe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4800600"/>
            <a:ext cx="457200" cy="457200"/>
          </a:xfrm>
          <a:prstGeom prst="ellipse">
            <a:avLst/>
          </a:prstGeom>
          <a:solidFill>
            <a:srgbClr val="FFD633"/>
          </a:solidFill>
          <a:ln w="12700">
            <a:solidFill>
              <a:srgbClr val="FFD6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 txBox="1"/>
          <p:nvPr/>
        </p:nvSpPr>
        <p:spPr>
          <a:xfrm>
            <a:off x="54864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234440" y="4782312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reçu d’email ?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rgbClr val="63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Vérifier les spams, ou cliquer sur « Recevoir un lien de connexion par email »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989320" y="1234440"/>
            <a:ext cx="5650992" cy="4846320"/>
          </a:xfrm>
          <a:prstGeom prst="roundRect">
            <a:avLst>
              <a:gd name="adj" fmla="val 2264"/>
            </a:avLst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8" name="Image 1" descr="Écran de connex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12" y="1994535"/>
            <a:ext cx="5321808" cy="3326130"/>
          </a:xfrm>
          <a:prstGeom prst="rect">
            <a:avLst/>
          </a:prstGeom>
        </p:spPr>
      </p:pic>
      <p:pic>
        <p:nvPicPr>
          <p:cNvPr id="19" name="Logo Trinergy" descr="Logo Trinerg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5172" y="411480"/>
            <a:ext cx="150818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"/>
            <a:ext cx="1188720" cy="45284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57532" y="530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959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TRINERGY × RAYSUN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59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RaYSun — Bd Saint-Lazare 4/10, 1210 Bruxelles — hi@raysun.solar — www.raysun.solar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59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9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14300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carte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87452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3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bâtiments ciblés, par vague et par priorité.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411480" cy="411480"/>
          </a:xfrm>
          <a:prstGeom prst="ellipse">
            <a:avLst/>
          </a:prstGeom>
          <a:solidFill>
            <a:srgbClr val="D9480F"/>
          </a:solidFill>
          <a:ln w="12700">
            <a:solidFill>
              <a:srgbClr val="D9480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 txBox="1"/>
          <p:nvPr/>
        </p:nvSpPr>
        <p:spPr>
          <a:xfrm>
            <a:off x="548640" y="2514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2514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approcher en premier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3063240"/>
            <a:ext cx="411480" cy="411480"/>
          </a:xfrm>
          <a:prstGeom prst="ellipse">
            <a:avLst/>
          </a:prstGeom>
          <a:solidFill>
            <a:srgbClr val="F59F00"/>
          </a:solidFill>
          <a:ln w="12700">
            <a:solidFill>
              <a:srgbClr val="F59F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 txBox="1"/>
          <p:nvPr/>
        </p:nvSpPr>
        <p:spPr>
          <a:xfrm>
            <a:off x="54864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143000" y="3063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Ensuite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8640" y="3611880"/>
            <a:ext cx="411480" cy="411480"/>
          </a:xfrm>
          <a:prstGeom prst="ellipse">
            <a:avLst/>
          </a:prstGeom>
          <a:solidFill>
            <a:srgbClr val="5C7CFA"/>
          </a:solidFill>
          <a:ln w="12700">
            <a:solidFill>
              <a:srgbClr val="5C7C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 txBox="1"/>
          <p:nvPr/>
        </p:nvSpPr>
        <p:spPr>
          <a:xfrm>
            <a:off x="54864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" y="3611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tard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48640" y="4297680"/>
            <a:ext cx="6949440" cy="1783080"/>
          </a:xfrm>
          <a:prstGeom prst="roundRect">
            <a:avLst>
              <a:gd name="adj" fmla="val 5128"/>
            </a:avLst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 txBox="1"/>
          <p:nvPr/>
        </p:nvSpPr>
        <p:spPr>
          <a:xfrm>
            <a:off x="822960" y="446227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 cibler en ce moment ?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4846320"/>
            <a:ext cx="6400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3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Professionnels, copropriétés et logements sociaux (Bruxelles, Wallonie). Pas de maisons individuelles.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959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Encadré tenu à jour par RaYSun, en haut à gauche de la carte.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206240" y="26060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959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Astuce : le bouton Plan / Satellite aide à repérer les toitures.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8092440" y="914400"/>
            <a:ext cx="3547872" cy="5349240"/>
          </a:xfrm>
          <a:prstGeom prst="roundRect">
            <a:avLst>
              <a:gd name="adj" fmla="val 3093"/>
            </a:avLst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2" name="Image 1" descr="Filtres vagues et priorités, encadré Qui cibler en ce momen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5445" y="1078992"/>
            <a:ext cx="2261861" cy="5020056"/>
          </a:xfrm>
          <a:prstGeom prst="rect">
            <a:avLst/>
          </a:prstGeom>
        </p:spPr>
      </p:pic>
      <p:pic>
        <p:nvPicPr>
          <p:cNvPr id="23" name="Logo Trinergy" descr="Logo Trinerg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5172" y="411480"/>
            <a:ext cx="150818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"/>
            <a:ext cx="1188720" cy="45284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57532" y="530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959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TRINERGY × RAYSUN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59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RaYSun — Bd Saint-Lazare 4/10, 1210 Bruxelles — hi@raysun.solar — www.raysun.solar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59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9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14300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façons d’aider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87452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3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Cliquez sur un bâtiment : sa fiche s’ouvre à droite.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5029200" cy="960120"/>
          </a:xfrm>
          <a:prstGeom prst="roundRect">
            <a:avLst>
              <a:gd name="adj" fmla="val 9524"/>
            </a:avLst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777240" y="2807208"/>
            <a:ext cx="457200" cy="457200"/>
          </a:xfrm>
          <a:prstGeom prst="ellipse">
            <a:avLst/>
          </a:prstGeom>
          <a:solidFill>
            <a:srgbClr val="FFD633"/>
          </a:solidFill>
          <a:ln w="12700">
            <a:solidFill>
              <a:srgbClr val="FFD6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 txBox="1"/>
          <p:nvPr/>
        </p:nvSpPr>
        <p:spPr>
          <a:xfrm>
            <a:off x="777240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463040" y="271576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fais l’introduction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3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nous mettez en relation avec le gestionnaire.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3703320"/>
            <a:ext cx="5029200" cy="960120"/>
          </a:xfrm>
          <a:prstGeom prst="roundRect">
            <a:avLst>
              <a:gd name="adj" fmla="val 9524"/>
            </a:avLst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0"/>
          <p:cNvSpPr/>
          <p:nvPr/>
        </p:nvSpPr>
        <p:spPr>
          <a:xfrm>
            <a:off x="777240" y="3950208"/>
            <a:ext cx="457200" cy="457200"/>
          </a:xfrm>
          <a:prstGeom prst="ellipse">
            <a:avLst/>
          </a:prstGeom>
          <a:solidFill>
            <a:srgbClr val="FFD633"/>
          </a:solidFill>
          <a:ln w="12700">
            <a:solidFill>
              <a:srgbClr val="FFD6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 txBox="1"/>
          <p:nvPr/>
        </p:nvSpPr>
        <p:spPr>
          <a:xfrm>
            <a:off x="777240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463040" y="385876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vous donne le contact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3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Nom, fonction, email ou téléphone : RaYSun l’approche.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4846320"/>
            <a:ext cx="5029200" cy="960120"/>
          </a:xfrm>
          <a:prstGeom prst="roundRect">
            <a:avLst>
              <a:gd name="adj" fmla="val 9524"/>
            </a:avLst>
          </a:prstGeom>
          <a:solidFill>
            <a:srgbClr val="FFD633"/>
          </a:solidFill>
          <a:ln w="12700">
            <a:solidFill>
              <a:srgbClr val="FFD6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777240" y="5093208"/>
            <a:ext cx="457200" cy="457200"/>
          </a:xfrm>
          <a:prstGeom prst="ellipse">
            <a:avLst/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 txBox="1"/>
          <p:nvPr/>
        </p:nvSpPr>
        <p:spPr>
          <a:xfrm>
            <a:off x="777240" y="5093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463040" y="500176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J’ai des données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B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Consommation, injection, prix, dernière facture.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989320" y="1234440"/>
            <a:ext cx="5650992" cy="4846320"/>
          </a:xfrm>
          <a:prstGeom prst="roundRect">
            <a:avLst>
              <a:gd name="adj" fmla="val 2264"/>
            </a:avLst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1" name="Image 1" descr="Fiche d’un bâtimen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12" y="1994535"/>
            <a:ext cx="5321808" cy="3326130"/>
          </a:xfrm>
          <a:prstGeom prst="rect">
            <a:avLst/>
          </a:prstGeom>
        </p:spPr>
      </p:pic>
      <p:pic>
        <p:nvPicPr>
          <p:cNvPr id="22" name="Logo Trinergy" descr="Logo Trinerg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5172" y="411480"/>
            <a:ext cx="150818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"/>
            <a:ext cx="1188720" cy="45284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57532" y="530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959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TRINERGY × RAYSUN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59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RaYSun — Bd Saint-Lazare 4/10, 1210 Bruxelles — hi@raysun.solar — www.raysun.solar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59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9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14300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Transmettre des données</a:t>
            </a:r>
            <a:endParaRPr lang="en-US" sz="3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87452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3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chemin « J’ai des données sur ce bâtiment ».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rgbClr val="FFD633"/>
          </a:solidFill>
          <a:ln w="12700">
            <a:solidFill>
              <a:srgbClr val="FFD6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 txBox="1"/>
          <p:nvPr/>
        </p:nvSpPr>
        <p:spPr>
          <a:xfrm>
            <a:off x="5486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2542032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Choisir le 3e chemin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rgbClr val="63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la fiche, « J’ai des données sur ce bâtiment »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3584448"/>
            <a:ext cx="457200" cy="457200"/>
          </a:xfrm>
          <a:prstGeom prst="ellipse">
            <a:avLst/>
          </a:prstGeom>
          <a:solidFill>
            <a:srgbClr val="FFD633"/>
          </a:solidFill>
          <a:ln w="12700">
            <a:solidFill>
              <a:srgbClr val="FFD6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 txBox="1"/>
          <p:nvPr/>
        </p:nvSpPr>
        <p:spPr>
          <a:xfrm>
            <a:off x="548640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234440" y="3566160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Remplir ce que vous savez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rgbClr val="63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Consommation, injection, fournisseur, prix : fixe, variable ou indexé, bi-horaire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4608576"/>
            <a:ext cx="457200" cy="457200"/>
          </a:xfrm>
          <a:prstGeom prst="ellipse">
            <a:avLst/>
          </a:prstGeom>
          <a:solidFill>
            <a:srgbClr val="FFD633"/>
          </a:solidFill>
          <a:ln w="12700">
            <a:solidFill>
              <a:srgbClr val="FFD6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 txBox="1"/>
          <p:nvPr/>
        </p:nvSpPr>
        <p:spPr>
          <a:xfrm>
            <a:off x="548640" y="4608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234440" y="4590288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Joindre la dernière facture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rgbClr val="63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Moins de 3 mois · PDF ou photo · 10 Mo max.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5532120"/>
            <a:ext cx="5120640" cy="685800"/>
          </a:xfrm>
          <a:prstGeom prst="roundRect">
            <a:avLst>
              <a:gd name="adj" fmla="val 10667"/>
            </a:avLst>
          </a:prstGeom>
          <a:solidFill>
            <a:srgbClr val="FFD633"/>
          </a:solidFill>
          <a:ln w="12700">
            <a:solidFill>
              <a:srgbClr val="FFD6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 txBox="1"/>
          <p:nvPr/>
        </p:nvSpPr>
        <p:spPr>
          <a:xfrm>
            <a:off x="777240" y="553212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Champs vides ? Ces informations doivent figurer sur la facture. Visible par RaYSun seulement, supprimée après 10 jours.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989320" y="1234440"/>
            <a:ext cx="2743200" cy="498348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0" name="Image 1" descr="Les trois chemins sur la fich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7511" y="1399032"/>
            <a:ext cx="2386818" cy="4654296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8897112" y="1234440"/>
            <a:ext cx="2743200" cy="498348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2" name="Image 2" descr="Formulaire données et factur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5303" y="1399032"/>
            <a:ext cx="2386818" cy="4654296"/>
          </a:xfrm>
          <a:prstGeom prst="rect">
            <a:avLst/>
          </a:prstGeom>
        </p:spPr>
      </p:pic>
      <p:pic>
        <p:nvPicPr>
          <p:cNvPr id="23" name="Logo Trinergy" descr="Logo Trinergy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35172" y="411480"/>
            <a:ext cx="150818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"/>
            <a:ext cx="1188720" cy="45284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57532" y="530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959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TRINERGY × RAYSUN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59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RaYSun — Bd Saint-Lazare 4/10, 1210 Bruxelles — hi@raysun.solar — www.raysun.solar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59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9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14300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Proposer un lieu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87452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3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bâtiment qui n’est pas sur la carte ? Ajoutez-le.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rgbClr val="FFD633"/>
          </a:solidFill>
          <a:ln w="12700">
            <a:solidFill>
              <a:srgbClr val="FFD6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 txBox="1"/>
          <p:nvPr/>
        </p:nvSpPr>
        <p:spPr>
          <a:xfrm>
            <a:off x="5486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254203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+ Proposer un lieu »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rgbClr val="63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bouton violet en bas de la carte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3429000"/>
            <a:ext cx="457200" cy="457200"/>
          </a:xfrm>
          <a:prstGeom prst="ellipse">
            <a:avLst/>
          </a:prstGeom>
          <a:solidFill>
            <a:srgbClr val="FFD633"/>
          </a:solidFill>
          <a:ln w="12700">
            <a:solidFill>
              <a:srgbClr val="FFD6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 txBox="1"/>
          <p:nvPr/>
        </p:nvSpPr>
        <p:spPr>
          <a:xfrm>
            <a:off x="5486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234440" y="341071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Placer le point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rgbClr val="63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 sur la carte ou « Localiser sur la carte »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4297680"/>
            <a:ext cx="457200" cy="457200"/>
          </a:xfrm>
          <a:prstGeom prst="ellipse">
            <a:avLst/>
          </a:prstGeom>
          <a:solidFill>
            <a:srgbClr val="FFD633"/>
          </a:solidFill>
          <a:ln w="12700">
            <a:solidFill>
              <a:srgbClr val="FFD6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 txBox="1"/>
          <p:nvPr/>
        </p:nvSpPr>
        <p:spPr>
          <a:xfrm>
            <a:off x="54864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234440" y="427939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Décrire le bâtiment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rgbClr val="63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Type, région, panneaux solaires (kWc)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5166360"/>
            <a:ext cx="457200" cy="457200"/>
          </a:xfrm>
          <a:prstGeom prst="ellipse">
            <a:avLst/>
          </a:prstGeom>
          <a:solidFill>
            <a:srgbClr val="FFD633"/>
          </a:solidFill>
          <a:ln w="12700">
            <a:solidFill>
              <a:srgbClr val="FFD6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 txBox="1"/>
          <p:nvPr/>
        </p:nvSpPr>
        <p:spPr>
          <a:xfrm>
            <a:off x="54864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234440" y="514807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Ajouter si possible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dirty="0">
                <a:solidFill>
                  <a:srgbClr val="63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contact sur place, des données, la facture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989320" y="1234440"/>
            <a:ext cx="5650992" cy="4846320"/>
          </a:xfrm>
          <a:prstGeom prst="roundRect">
            <a:avLst>
              <a:gd name="adj" fmla="val 2264"/>
            </a:avLst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1" name="Image 1" descr="Formulaire Proposer un lieu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12" y="1994535"/>
            <a:ext cx="5321808" cy="3326130"/>
          </a:xfrm>
          <a:prstGeom prst="rect">
            <a:avLst/>
          </a:prstGeom>
        </p:spPr>
      </p:pic>
      <p:pic>
        <p:nvPicPr>
          <p:cNvPr id="22" name="Logo Trinergy" descr="Logo Trinerg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5172" y="411480"/>
            <a:ext cx="150818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"/>
            <a:ext cx="1188720" cy="45284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57532" y="530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spc="300" dirty="0">
                <a:solidFill>
                  <a:srgbClr val="959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TRINERGY × RAYSUN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59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RaYSun — Bd Saint-Lazare 4/10, 1210 Bruxelles — hi@raysun.solar — www.raysun.solar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190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59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9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14300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ensuite ?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87452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3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fait RaYSun de chaque proposition.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3515258" cy="2377440"/>
          </a:xfrm>
          <a:prstGeom prst="roundRect">
            <a:avLst>
              <a:gd name="adj" fmla="val 3846"/>
            </a:avLst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822960" y="2834640"/>
            <a:ext cx="548640" cy="548640"/>
          </a:xfrm>
          <a:prstGeom prst="ellipse">
            <a:avLst/>
          </a:prstGeom>
          <a:solidFill>
            <a:srgbClr val="FFD633"/>
          </a:solidFill>
          <a:ln w="12700">
            <a:solidFill>
              <a:srgbClr val="FFD6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 txBox="1"/>
          <p:nvPr/>
        </p:nvSpPr>
        <p:spPr>
          <a:xfrm>
            <a:off x="82296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56616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 immédiate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97764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3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L’équipe RaYSun reçoit chaque proposition sans délai.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338218" y="2606040"/>
            <a:ext cx="3515258" cy="2377440"/>
          </a:xfrm>
          <a:prstGeom prst="roundRect">
            <a:avLst>
              <a:gd name="adj" fmla="val 3846"/>
            </a:avLst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4612538" y="2834640"/>
            <a:ext cx="548640" cy="548640"/>
          </a:xfrm>
          <a:prstGeom prst="ellipse">
            <a:avLst/>
          </a:prstGeom>
          <a:solidFill>
            <a:srgbClr val="FFD633"/>
          </a:solidFill>
          <a:ln w="12700">
            <a:solidFill>
              <a:srgbClr val="FFD6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 txBox="1"/>
          <p:nvPr/>
        </p:nvSpPr>
        <p:spPr>
          <a:xfrm>
            <a:off x="4612538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4612538" y="356616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Approche du gestionnaire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4612538" y="397764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360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RaYSun contacte le gestionnaire en mentionnant Trinergy, Trinergy en copie.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127797" y="2606040"/>
            <a:ext cx="3515258" cy="2377440"/>
          </a:xfrm>
          <a:prstGeom prst="roundRect">
            <a:avLst>
              <a:gd name="adj" fmla="val 3846"/>
            </a:avLst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6"/>
          <p:cNvSpPr/>
          <p:nvPr/>
        </p:nvSpPr>
        <p:spPr>
          <a:xfrm>
            <a:off x="8402117" y="2834640"/>
            <a:ext cx="548640" cy="548640"/>
          </a:xfrm>
          <a:prstGeom prst="ellipse">
            <a:avLst/>
          </a:prstGeom>
          <a:solidFill>
            <a:srgbClr val="FFD633"/>
          </a:solidFill>
          <a:ln w="12700">
            <a:solidFill>
              <a:srgbClr val="FFD6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 txBox="1"/>
          <p:nvPr/>
        </p:nvSpPr>
        <p:spPr>
          <a:xfrm>
            <a:off x="8402117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8402117" y="356616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Trinergy</a:t>
            </a:r>
            <a:r>
              <a:rPr lang="en-US" sz="1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est </a:t>
            </a:r>
            <a:r>
              <a:rPr lang="en-US" sz="1800" b="1" dirty="0" err="1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rémunérée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8402117" y="397764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 err="1">
                <a:solidFill>
                  <a:srgbClr val="63605A"/>
                </a:solidFill>
                <a:latin typeface="Arial" pitchFamily="34" charset="0"/>
                <a:cs typeface="Arial" pitchFamily="34" charset="-120"/>
              </a:rPr>
              <a:t>Trinergy</a:t>
            </a:r>
            <a:r>
              <a:rPr lang="en-US" sz="1400" dirty="0">
                <a:solidFill>
                  <a:srgbClr val="63605A"/>
                </a:solidFill>
                <a:latin typeface="Arial" pitchFamily="34" charset="0"/>
                <a:cs typeface="Arial" pitchFamily="34" charset="-120"/>
              </a:rPr>
              <a:t> est </a:t>
            </a:r>
            <a:r>
              <a:rPr lang="en-US" sz="1400" dirty="0" err="1">
                <a:solidFill>
                  <a:srgbClr val="63605A"/>
                </a:solidFill>
                <a:latin typeface="Arial" pitchFamily="34" charset="0"/>
                <a:cs typeface="Arial" pitchFamily="34" charset="-120"/>
              </a:rPr>
              <a:t>rémunérée</a:t>
            </a:r>
            <a:r>
              <a:rPr lang="en-US" sz="1400" dirty="0">
                <a:solidFill>
                  <a:srgbClr val="63605A"/>
                </a:solidFill>
                <a:latin typeface="Arial" pitchFamily="34" charset="0"/>
                <a:cs typeface="Arial" pitchFamily="34" charset="-120"/>
              </a:rPr>
              <a:t> +/- 10 EUR / MWh </a:t>
            </a:r>
            <a:r>
              <a:rPr lang="en-US" sz="1400" dirty="0" err="1">
                <a:solidFill>
                  <a:srgbClr val="63605A"/>
                </a:solidFill>
                <a:latin typeface="Arial" pitchFamily="34" charset="0"/>
                <a:cs typeface="Arial" pitchFamily="34" charset="-120"/>
              </a:rPr>
              <a:t>partagé</a:t>
            </a:r>
            <a:r>
              <a:rPr lang="en-US" sz="1400" dirty="0">
                <a:solidFill>
                  <a:srgbClr val="63605A"/>
                </a:solidFill>
                <a:latin typeface="Arial" pitchFamily="34" charset="0"/>
                <a:cs typeface="Arial" pitchFamily="34" charset="-120"/>
              </a:rPr>
              <a:t>.</a:t>
            </a:r>
          </a:p>
        </p:txBody>
      </p:sp>
      <p:sp>
        <p:nvSpPr>
          <p:cNvPr id="23" name="Shape 20"/>
          <p:cNvSpPr/>
          <p:nvPr/>
        </p:nvSpPr>
        <p:spPr>
          <a:xfrm>
            <a:off x="548640" y="53949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 txBox="1"/>
          <p:nvPr/>
        </p:nvSpPr>
        <p:spPr>
          <a:xfrm>
            <a:off x="868680" y="539496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question ?  </a:t>
            </a:r>
            <a:r>
              <a:rPr lang="en-US" sz="1600" b="1" dirty="0">
                <a:solidFill>
                  <a:srgbClr val="FFD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Eric Rwamucyo — eric.rw@raysun.solar</a:t>
            </a:r>
            <a:endParaRPr lang="en-US" sz="1600" dirty="0"/>
          </a:p>
        </p:txBody>
      </p:sp>
      <p:pic>
        <p:nvPicPr>
          <p:cNvPr id="25" name="Logo Trinergy" descr="Logo Trinerg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5172" y="411480"/>
            <a:ext cx="1508188" cy="3840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1022</Words>
  <Application>Microsoft Macintosh PowerPoint</Application>
  <PresentationFormat>Grand écran</PresentationFormat>
  <Paragraphs>140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RaYSun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CityWatt Ambassadeurs — Trinergy × RaYSun</dc:title>
  <dc:subject>PptxGenJS Presentation</dc:subject>
  <dc:creator>RaYSun</dc:creator>
  <cp:lastModifiedBy>Eric Rwamucyo</cp:lastModifiedBy>
  <cp:revision>2</cp:revision>
  <dcterms:created xsi:type="dcterms:W3CDTF">2026-10-01T18:13:38Z</dcterms:created>
  <dcterms:modified xsi:type="dcterms:W3CDTF">2026-10-01T18:20:37Z</dcterms:modified>
</cp:coreProperties>
</file>